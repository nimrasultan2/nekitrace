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layfair Display SemiBold" panose="020B0604020202020204" charset="0"/>
      <p:regular r:id="rId18"/>
    </p:embeddedFont>
    <p:embeddedFont>
      <p:font typeface="Public Sans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8F7A"/>
    <a:srgbClr val="76AE8B"/>
    <a:srgbClr val="FFFAF6"/>
    <a:srgbClr val="8BC5D5"/>
    <a:srgbClr val="B4D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20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706" l="1361" r="98186">
                        <a14:foregroundMark x1="22373" y1="17660" x2="22373" y2="17660"/>
                        <a14:foregroundMark x1="6349" y1="38484" x2="6349" y2="38484"/>
                        <a14:foregroundMark x1="29101" y1="14349" x2="29101" y2="14349"/>
                        <a14:foregroundMark x1="27891" y1="13245" x2="27891" y2="13245"/>
                        <a14:foregroundMark x1="22373" y1="17292" x2="22373" y2="17292"/>
                        <a14:foregroundMark x1="4913" y1="91759" x2="6576" y2="89183"/>
                        <a14:foregroundMark x1="23356" y1="95070" x2="23356" y2="95070"/>
                        <a14:foregroundMark x1="26455" y1="98970" x2="26455" y2="98970"/>
                        <a14:foregroundMark x1="97128" y1="51067" x2="97128" y2="51067"/>
                        <a14:foregroundMark x1="98186" y1="65931" x2="98186" y2="65931"/>
                        <a14:foregroundMark x1="5971" y1="66299" x2="5971" y2="66299"/>
                        <a14:foregroundMark x1="1436" y1="49595" x2="1436" y2="49595"/>
                        <a14:foregroundMark x1="73394" y1="99706" x2="73394" y2="99706"/>
                        <a14:foregroundMark x1="71958" y1="14349" x2="71958" y2="14349"/>
                        <a14:foregroundMark x1="77022" y1="19352" x2="77022" y2="19352"/>
                        <a14:foregroundMark x1="76644" y1="18764" x2="76644" y2="18764"/>
                        <a14:foregroundMark x1="49358" y1="13981" x2="49358" y2="13981"/>
                        <a14:foregroundMark x1="52457" y1="18764" x2="52457" y2="18764"/>
                        <a14:foregroundMark x1="56992" y1="4415" x2="56992" y2="4415"/>
                        <a14:foregroundMark x1="44293" y1="5372" x2="44293" y2="5372"/>
                        <a14:foregroundMark x1="52683" y1="39956" x2="52683" y2="39956"/>
                        <a14:foregroundMark x1="44067" y1="29654" x2="44067" y2="29654"/>
                        <a14:foregroundMark x1="57370" y1="32230" x2="57370" y2="32230"/>
                        <a14:foregroundMark x1="56160" y1="34069" x2="56160" y2="34069"/>
                        <a14:foregroundMark x1="55933" y1="30611" x2="55933" y2="30611"/>
                        <a14:foregroundMark x1="40590" y1="28550" x2="40590" y2="28550"/>
                        <a14:foregroundMark x1="37264" y1="28918" x2="37264" y2="28918"/>
                        <a14:foregroundMark x1="55556" y1="30022" x2="55556" y2="30022"/>
                        <a14:foregroundMark x1="44067" y1="31862" x2="44067" y2="31862"/>
                        <a14:foregroundMark x1="44067" y1="34658" x2="44067" y2="34658"/>
                        <a14:foregroundMark x1="45881" y1="24356" x2="45881" y2="24356"/>
                        <a14:foregroundMark x1="49358" y1="25975" x2="49358" y2="25975"/>
                        <a14:foregroundMark x1="47921" y1="33701" x2="47921" y2="33701"/>
                        <a14:foregroundMark x1="48980" y1="33701" x2="48980" y2="33701"/>
                        <a14:foregroundMark x1="51625" y1="32082" x2="51625" y2="32082"/>
                        <a14:foregroundMark x1="51020" y1="30243" x2="51020" y2="30243"/>
                        <a14:backgroundMark x1="5745" y1="91244" x2="5745" y2="91244"/>
                        <a14:backgroundMark x1="5518" y1="89772" x2="5518" y2="89772"/>
                        <a14:backgroundMark x1="5518" y1="89772" x2="5518" y2="89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3358" y="1798092"/>
            <a:ext cx="2713614" cy="301782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612965" y="5479163"/>
            <a:ext cx="2198038" cy="343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7000"/>
              </a:lnSpc>
              <a:buSzPct val="100000"/>
            </a:pPr>
            <a:r>
              <a:rPr lang="en-US" sz="1400" b="1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Presenter:</a:t>
            </a:r>
            <a:r>
              <a:rPr lang="en-US" sz="1400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Nimra</a:t>
            </a: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Sultan</a:t>
            </a:r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4612965" y="5784174"/>
            <a:ext cx="3270447" cy="3436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7000"/>
              </a:lnSpc>
              <a:buSzPct val="100000"/>
            </a:pPr>
            <a:r>
              <a:rPr lang="en-US" sz="1400" b="1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Department: </a:t>
            </a: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Information Technology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4612965" y="6114845"/>
            <a:ext cx="2727029" cy="3436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7000"/>
              </a:lnSpc>
              <a:buSzPct val="100000"/>
            </a:pPr>
            <a:r>
              <a:rPr lang="en-US" sz="1400" b="1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Organization:</a:t>
            </a:r>
            <a:r>
              <a:rPr lang="en-US" sz="1400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 err="1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Fauji</a:t>
            </a: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Foundation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29C5DE-EB04-4539-8C67-EC14D3AA3C28}"/>
              </a:ext>
            </a:extLst>
          </p:cNvPr>
          <p:cNvSpPr txBox="1"/>
          <p:nvPr/>
        </p:nvSpPr>
        <p:spPr>
          <a:xfrm>
            <a:off x="4612965" y="1035217"/>
            <a:ext cx="71246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dirty="0">
                <a:solidFill>
                  <a:srgbClr val="378F7A"/>
                </a:solidFill>
                <a:latin typeface="Playfair Display SemiBold" panose="020B0604020202020204" charset="0"/>
              </a:rPr>
              <a:t>Transparent Donation Tracking System</a:t>
            </a:r>
            <a:br>
              <a:rPr lang="en-US" sz="3500" dirty="0">
                <a:solidFill>
                  <a:srgbClr val="378F7A"/>
                </a:solidFill>
                <a:latin typeface="Playfair Display SemiBold" panose="020B0604020202020204" charset="0"/>
              </a:rPr>
            </a:br>
            <a:r>
              <a:rPr lang="en-US" sz="3500" dirty="0">
                <a:solidFill>
                  <a:srgbClr val="378F7A"/>
                </a:solidFill>
                <a:latin typeface="Playfair Display SemiBold" panose="020B0604020202020204" charset="0"/>
              </a:rPr>
              <a:t>NEKITRACE</a:t>
            </a:r>
            <a:endParaRPr lang="en-PK" sz="3500" dirty="0">
              <a:solidFill>
                <a:srgbClr val="378F7A"/>
              </a:solidFill>
              <a:latin typeface="Playfair Display SemiBold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14C252-AF1D-49AC-96BE-F860D0C930A9}"/>
              </a:ext>
            </a:extLst>
          </p:cNvPr>
          <p:cNvSpPr txBox="1"/>
          <p:nvPr/>
        </p:nvSpPr>
        <p:spPr>
          <a:xfrm>
            <a:off x="4612965" y="2756390"/>
            <a:ext cx="67098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Public Sans" panose="020B0604020202020204" charset="0"/>
              </a:rPr>
              <a:t>A D</a:t>
            </a:r>
            <a:r>
              <a:rPr lang="en-US" sz="1200" b="0" dirty="0">
                <a:effectLst/>
                <a:latin typeface="Public Sans" panose="020B0604020202020204" charset="0"/>
              </a:rPr>
              <a:t>onation-tracking platform. Donors browse real charity projects and campaigns, see who they're helping and why, and track the projects.</a:t>
            </a:r>
            <a:endParaRPr lang="en-PK" sz="1200" dirty="0">
              <a:latin typeface="Public Sans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263" y="0"/>
            <a:ext cx="6705432" cy="6913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24768"/>
            <a:ext cx="4772898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What is NekiTrace?</a:t>
            </a:r>
            <a:endParaRPr lang="en-US" sz="3600" b="1" dirty="0">
              <a:solidFill>
                <a:srgbClr val="378F7A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661475" y="1229618"/>
            <a:ext cx="4772898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NekiTrace is a web-based fundraising platform developed to make donations transparent, auditable, and donor-friendly. It enables donors to follow each rupee and provides NGOs with tools to manage projects and publish verified progress. 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075" y="2796580"/>
            <a:ext cx="4798297" cy="9937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91756" y="2821980"/>
            <a:ext cx="45426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Web based platform</a:t>
            </a:r>
            <a:endParaRPr lang="en-US" sz="1750" dirty="0">
              <a:solidFill>
                <a:srgbClr val="378F7A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891756" y="3204766"/>
            <a:ext cx="454261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Accessible anywhere donors can view campaigns, goals, and progress in real time.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75" y="4080669"/>
            <a:ext cx="4798297" cy="9937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91756" y="4106069"/>
            <a:ext cx="45426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Transparency first</a:t>
            </a:r>
            <a:endParaRPr lang="en-US" sz="1750" dirty="0">
              <a:solidFill>
                <a:srgbClr val="378F7A"/>
              </a:solidFill>
            </a:endParaRPr>
          </a:p>
        </p:txBody>
      </p:sp>
      <p:sp>
        <p:nvSpPr>
          <p:cNvPr id="11" name="Text 5"/>
          <p:cNvSpPr/>
          <p:nvPr/>
        </p:nvSpPr>
        <p:spPr>
          <a:xfrm>
            <a:off x="891756" y="4488855"/>
            <a:ext cx="454261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Donation proofs, receipts, and project updates are stored and linked to each contribution.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075" y="5364758"/>
            <a:ext cx="4798297" cy="9937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1756" y="5390158"/>
            <a:ext cx="454261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Admin management</a:t>
            </a:r>
            <a:endParaRPr lang="en-US" sz="1750" dirty="0">
              <a:solidFill>
                <a:srgbClr val="378F7A"/>
              </a:solidFill>
            </a:endParaRPr>
          </a:p>
        </p:txBody>
      </p:sp>
      <p:sp>
        <p:nvSpPr>
          <p:cNvPr id="14" name="Text 7"/>
          <p:cNvSpPr/>
          <p:nvPr/>
        </p:nvSpPr>
        <p:spPr>
          <a:xfrm>
            <a:off x="891756" y="5772944"/>
            <a:ext cx="454261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Project creation, beneficiary records and managing beneficiaries and charity projects through a secure admin panel.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101DD7-023C-4A18-ABA9-3F781F8527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053" y="973733"/>
            <a:ext cx="6350326" cy="5234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75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Problem Statement</a:t>
            </a:r>
            <a:endParaRPr lang="en-US" sz="3300" dirty="0">
              <a:solidFill>
                <a:srgbClr val="378F7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53554"/>
            <a:ext cx="10868745" cy="758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Many NGOs struggle to keep donors informed:</a:t>
            </a:r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Updates posted to Instagram, WhatsApp, or Facebook disappear or are hard to audit. Donors need lasting records and clear proof that funds reached intended beneficiaries.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/>
            <a:duotone>
              <a:prstClr val="black"/>
              <a:srgbClr val="378F7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3239" y="2402809"/>
            <a:ext cx="5745217" cy="34098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1983" y="4624286"/>
            <a:ext cx="1428114" cy="550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Publish Impact</a:t>
            </a:r>
            <a:endParaRPr lang="en-US" sz="1700" dirty="0">
              <a:solidFill>
                <a:srgbClr val="378F7A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22169" y="4624286"/>
            <a:ext cx="1428114" cy="550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Verify &amp; Record</a:t>
            </a:r>
            <a:endParaRPr lang="en-US" sz="1700" dirty="0">
              <a:solidFill>
                <a:srgbClr val="378F7A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593010" y="4624286"/>
            <a:ext cx="1428114" cy="550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Collect Donations</a:t>
            </a:r>
            <a:endParaRPr lang="en-US" sz="1700" dirty="0">
              <a:solidFill>
                <a:srgbClr val="378F7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61475" y="5725021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NekiTrace addresses this by centralizing donation records, attaching transaction evidence, and publishing verified project status in one persistent place.</a:t>
            </a:r>
            <a:endParaRPr lang="en-US" sz="1300" dirty="0"/>
          </a:p>
        </p:txBody>
      </p:sp>
      <p:sp>
        <p:nvSpPr>
          <p:cNvPr id="9" name="TextBox 8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485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Tools &amp; Software Stack</a:t>
            </a:r>
            <a:endParaRPr lang="en-US" sz="2950" dirty="0">
              <a:solidFill>
                <a:srgbClr val="378F7A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555353"/>
            <a:ext cx="756028" cy="1134070"/>
          </a:xfrm>
          <a:prstGeom prst="roundRect">
            <a:avLst>
              <a:gd name="adj" fmla="val 50000"/>
            </a:avLst>
          </a:prstGeom>
          <a:solidFill>
            <a:srgbClr val="378F7A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blurRad="127" dist="2413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7709" y="19451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6510" y="1744365"/>
            <a:ext cx="99237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React.js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06510" y="2153047"/>
            <a:ext cx="992371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Responsive, component-driven UI designed for clarity and trust. 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878435"/>
            <a:ext cx="756028" cy="1134070"/>
          </a:xfrm>
          <a:prstGeom prst="roundRect">
            <a:avLst>
              <a:gd name="adj" fmla="val 50000"/>
            </a:avLst>
          </a:prstGeom>
          <a:solidFill>
            <a:srgbClr val="378F7A">
              <a:alpha val="49804"/>
            </a:srgbClr>
          </a:solidFill>
          <a:ln w="6350">
            <a:solidFill>
              <a:srgbClr val="B2AAD2"/>
            </a:solidFill>
            <a:prstDash val="solid"/>
          </a:ln>
          <a:effectLst>
            <a:outerShdw blurRad="127" dist="2413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7709" y="326826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6510" y="3067447"/>
            <a:ext cx="99237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Spring Boot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606510" y="3476129"/>
            <a:ext cx="992371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Secure, scalable Java backend powering REST APIs, business logic, and transactional workflows.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4201517"/>
            <a:ext cx="756028" cy="1134070"/>
          </a:xfrm>
          <a:prstGeom prst="roundRect">
            <a:avLst>
              <a:gd name="adj" fmla="val 50000"/>
            </a:avLst>
          </a:prstGeom>
          <a:solidFill>
            <a:srgbClr val="378F7A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blurRad="127" dist="2413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7709" y="459134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6510" y="4390529"/>
            <a:ext cx="99237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Server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06510" y="4799211"/>
            <a:ext cx="992371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Relational storage with strong integrity guarantees for donations, users, beneficiaries, and projects.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54821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These technologies combine to create a reliable, maintainable system that supports growth while protecting donor and beneficiary data.</a:t>
            </a:r>
            <a:endParaRPr lang="en-US" sz="1450" dirty="0"/>
          </a:p>
        </p:txBody>
      </p:sp>
      <p:sp>
        <p:nvSpPr>
          <p:cNvPr id="16" name="TextBox 15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473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Features: What Donors &amp; NGOs See</a:t>
            </a:r>
            <a:endParaRPr lang="en-US" sz="2950" dirty="0">
              <a:solidFill>
                <a:srgbClr val="378F7A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03156" y="1735237"/>
            <a:ext cx="25399" cy="4238030"/>
          </a:xfrm>
          <a:prstGeom prst="roundRect">
            <a:avLst>
              <a:gd name="adj" fmla="val 5000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756" y="1935163"/>
            <a:ext cx="378014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732315" y="1877020"/>
            <a:ext cx="141681" cy="141684"/>
          </a:xfrm>
          <a:prstGeom prst="ellipse">
            <a:avLst/>
          </a:prstGeom>
          <a:solidFill>
            <a:srgbClr val="378F7A"/>
          </a:solidFill>
          <a:ln/>
        </p:spPr>
      </p:sp>
      <p:sp>
        <p:nvSpPr>
          <p:cNvPr id="6" name="Text 4"/>
          <p:cNvSpPr/>
          <p:nvPr/>
        </p:nvSpPr>
        <p:spPr>
          <a:xfrm>
            <a:off x="1559283" y="1800126"/>
            <a:ext cx="99709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Project Marketplace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559283" y="2208808"/>
            <a:ext cx="99709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Browse curated fundraising campaigns with goals, descriptions, and beneficiary stories.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756" y="3089176"/>
            <a:ext cx="378014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9" name="Shape 7"/>
          <p:cNvSpPr/>
          <p:nvPr/>
        </p:nvSpPr>
        <p:spPr>
          <a:xfrm>
            <a:off x="732315" y="3031034"/>
            <a:ext cx="141681" cy="141684"/>
          </a:xfrm>
          <a:prstGeom prst="ellipse">
            <a:avLst/>
          </a:prstGeom>
          <a:solidFill>
            <a:srgbClr val="378F7A"/>
          </a:solidFill>
          <a:ln/>
        </p:spPr>
      </p:sp>
      <p:sp>
        <p:nvSpPr>
          <p:cNvPr id="10" name="Text 8"/>
          <p:cNvSpPr/>
          <p:nvPr/>
        </p:nvSpPr>
        <p:spPr>
          <a:xfrm>
            <a:off x="1559283" y="2954139"/>
            <a:ext cx="99709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Donate with Proof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559283" y="3362821"/>
            <a:ext cx="99709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transaction screenshots to link contributions to payments for on-record verification.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756" y="4243189"/>
            <a:ext cx="378014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2315" y="4185047"/>
            <a:ext cx="141681" cy="141684"/>
          </a:xfrm>
          <a:prstGeom prst="ellipse">
            <a:avLst/>
          </a:prstGeom>
          <a:solidFill>
            <a:srgbClr val="378F7A"/>
          </a:solidFill>
          <a:ln/>
        </p:spPr>
      </p:sp>
      <p:sp>
        <p:nvSpPr>
          <p:cNvPr id="14" name="Text 12"/>
          <p:cNvSpPr/>
          <p:nvPr/>
        </p:nvSpPr>
        <p:spPr>
          <a:xfrm>
            <a:off x="1559283" y="4108152"/>
            <a:ext cx="99709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Track Progress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9283" y="4516834"/>
            <a:ext cx="99709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Real-time progress bars and milestone updates show exactly what amount I collected.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77756" y="5397202"/>
            <a:ext cx="378014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2315" y="5339060"/>
            <a:ext cx="141681" cy="141684"/>
          </a:xfrm>
          <a:prstGeom prst="ellipse">
            <a:avLst/>
          </a:prstGeom>
          <a:solidFill>
            <a:srgbClr val="378F7A"/>
          </a:solidFill>
          <a:ln/>
        </p:spPr>
      </p:sp>
      <p:sp>
        <p:nvSpPr>
          <p:cNvPr id="18" name="Text 16"/>
          <p:cNvSpPr/>
          <p:nvPr/>
        </p:nvSpPr>
        <p:spPr>
          <a:xfrm>
            <a:off x="1559283" y="5262166"/>
            <a:ext cx="99709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Admin Dashboard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59283" y="5670848"/>
            <a:ext cx="99709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Manage campaigns, beneficiaries, and reconcile donations from a single secure console.</a:t>
            </a:r>
            <a:endParaRPr lang="en-US" sz="1450" dirty="0"/>
          </a:p>
        </p:txBody>
      </p:sp>
      <p:sp>
        <p:nvSpPr>
          <p:cNvPr id="20" name="TextBox 19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02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Frontend Development: Donor’s Experience</a:t>
            </a:r>
            <a:endParaRPr lang="en-US" sz="2950" dirty="0">
              <a:solidFill>
                <a:srgbClr val="378F7A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98600"/>
            <a:ext cx="5203794" cy="4256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332776" y="187801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Design goals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332776" y="2362299"/>
            <a:ext cx="5203794" cy="2036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Clear campaign cards that highlight goals, raised amount, and remaining need.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Simple donation form with preset amounts, custom entry, and optional anonymity.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field for transaction proof to maintain an auditable trail.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511288"/>
            <a:ext cx="5203794" cy="1166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50" b="1" dirty="0">
                <a:solidFill>
                  <a:srgbClr val="378F7A"/>
                </a:solidFill>
                <a:latin typeface="Playfair Display SemiBold" panose="020B0604020202020204" charset="0"/>
                <a:ea typeface="Public Sans" pitchFamily="34" charset="-122"/>
                <a:cs typeface="Public Sans" pitchFamily="34" charset="-120"/>
              </a:rPr>
              <a:t>Projects</a:t>
            </a:r>
            <a:r>
              <a:rPr lang="en-US" sz="1450" b="1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50" b="1" dirty="0">
                <a:solidFill>
                  <a:srgbClr val="378F7A"/>
                </a:solidFill>
                <a:latin typeface="Playfair Display SemiBold" panose="020B0604020202020204" charset="0"/>
                <a:ea typeface="Public Sans" pitchFamily="34" charset="-122"/>
                <a:cs typeface="Public Sans" pitchFamily="34" charset="-120"/>
              </a:rPr>
              <a:t>Page</a:t>
            </a:r>
            <a:r>
              <a:rPr lang="en-US" sz="1450" b="1" dirty="0">
                <a:solidFill>
                  <a:srgbClr val="378F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</a:t>
            </a:r>
            <a:b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</a:b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UI emphasizes trust signals, progress bars, beneficiary stories, and visible receipts to increase donor confidence and conversion.</a:t>
            </a:r>
            <a:endParaRPr lang="en-US" sz="1450" dirty="0"/>
          </a:p>
        </p:txBody>
      </p:sp>
      <p:sp>
        <p:nvSpPr>
          <p:cNvPr id="7" name="TextBox 6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229CAED-62C0-471D-9997-65E67B7480F4}"/>
              </a:ext>
            </a:extLst>
          </p:cNvPr>
          <p:cNvSpPr/>
          <p:nvPr/>
        </p:nvSpPr>
        <p:spPr>
          <a:xfrm>
            <a:off x="1973179" y="5922693"/>
            <a:ext cx="25410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Playfair Display SemiBold" panose="020B0604020202020204" charset="0"/>
              </a:rPr>
              <a:t>All Charity projects on one page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A8AA33-6D48-4BDF-B636-BF97B102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48" y="1510152"/>
            <a:ext cx="5726945" cy="47269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07C527-E987-49FC-AFC4-27A89F74D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26" y="1510152"/>
            <a:ext cx="5504926" cy="4726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8E64C0BF-9202-418A-85A2-7C8C61DA2882}"/>
              </a:ext>
            </a:extLst>
          </p:cNvPr>
          <p:cNvSpPr/>
          <p:nvPr/>
        </p:nvSpPr>
        <p:spPr>
          <a:xfrm>
            <a:off x="1521569" y="980660"/>
            <a:ext cx="3254901" cy="52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Playfair Display SemiBold" panose="020B0604020202020204" charset="0"/>
              </a:rPr>
              <a:t>Details of a charity project if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Playfair Display SemiBold" panose="020B0604020202020204" charset="0"/>
              </a:rPr>
              <a:t>someone wants to support that project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E18EC1A-453C-467B-BE6A-4E38447DE748}"/>
              </a:ext>
            </a:extLst>
          </p:cNvPr>
          <p:cNvSpPr/>
          <p:nvPr/>
        </p:nvSpPr>
        <p:spPr>
          <a:xfrm>
            <a:off x="7563811" y="980660"/>
            <a:ext cx="2531444" cy="462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Playfair Display SemiBold" panose="020B0604020202020204" charset="0"/>
              </a:rPr>
              <a:t>Donation page for every specific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Playfair Display SemiBold" panose="020B0604020202020204" charset="0"/>
              </a:rPr>
              <a:t>charity project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889411" y="6488668"/>
            <a:ext cx="1302589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941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9104"/>
            <a:ext cx="10868745" cy="40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Admin Interface &amp; Dashboard</a:t>
            </a:r>
            <a:endParaRPr lang="en-US" sz="2500" dirty="0">
              <a:solidFill>
                <a:srgbClr val="378F7A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9" y="1283790"/>
            <a:ext cx="4546685" cy="3231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61475" y="4264521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76979" y="5017950"/>
            <a:ext cx="4662189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23000"/>
              </a:lnSpc>
            </a:pPr>
            <a:r>
              <a:rPr lang="en-US" sz="12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40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Admins use a secure portal to create campaigns, upload beneficiary details, and edit or delete them after completion. Each project page includes: Goal, raised, and remaining amounts with progress visualization.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  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FFE7B2-0A70-4A33-824A-E5685B932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522" y="1283790"/>
            <a:ext cx="5404499" cy="4846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448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Backend: Reliability &amp; Security</a:t>
            </a:r>
            <a:endParaRPr lang="en-US" sz="2950" dirty="0">
              <a:solidFill>
                <a:srgbClr val="378F7A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874095" y="1430437"/>
            <a:ext cx="45719" cy="3237816"/>
          </a:xfrm>
          <a:prstGeom prst="roundRect">
            <a:avLst>
              <a:gd name="adj" fmla="val 50001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316" y="1630363"/>
            <a:ext cx="567021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14304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78F7A">
              <a:alpha val="50000"/>
            </a:srgbClr>
          </a:solidFill>
          <a:ln w="6350">
            <a:solidFill>
              <a:srgbClr val="C7A8A8"/>
            </a:solidFill>
            <a:prstDash val="solid"/>
          </a:ln>
          <a:effectLst>
            <a:outerShdw blurRad="127" dist="24130" dir="2700000" algn="bl" rotWithShape="0">
              <a:srgbClr val="C7A8A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2365" y="146585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19130" y="1495326"/>
            <a:ext cx="9711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REST APIs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819130" y="1820267"/>
            <a:ext cx="5413701" cy="61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Endpoints for project management, donations, user profiles,</a:t>
            </a:r>
          </a:p>
          <a:p>
            <a:pPr>
              <a:lnSpc>
                <a:spcPct val="133000"/>
              </a:lnSpc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and admin actions,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61316" y="2784376"/>
            <a:ext cx="567021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58445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78F7A">
              <a:alpha val="50000"/>
            </a:srgbClr>
          </a:solidFill>
          <a:ln w="6350">
            <a:solidFill>
              <a:srgbClr val="B2AAD2"/>
            </a:solidFill>
            <a:prstDash val="solid"/>
          </a:ln>
          <a:effectLst>
            <a:outerShdw blurRad="127" dist="24130" dir="2700000" algn="bl" rotWithShape="0">
              <a:srgbClr val="B2AAD2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2365" y="261987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19130" y="2649339"/>
            <a:ext cx="9711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Auth &amp; Access Control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19130" y="3058021"/>
            <a:ext cx="97110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Role-based authentication for admins and secure donor sessions.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61316" y="3938389"/>
            <a:ext cx="567021" cy="25400"/>
          </a:xfrm>
          <a:prstGeom prst="roundRect">
            <a:avLst>
              <a:gd name="adj" fmla="val 49999"/>
            </a:avLst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37384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78F7A">
              <a:alpha val="50000"/>
            </a:srgbClr>
          </a:solidFill>
          <a:ln w="6350">
            <a:solidFill>
              <a:srgbClr val="9AC0CA"/>
            </a:solidFill>
            <a:prstDash val="solid"/>
          </a:ln>
          <a:effectLst>
            <a:outerShdw blurRad="127" dist="24130" dir="2700000" algn="bl" rotWithShape="0">
              <a:srgbClr val="9AC0CA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2365" y="37738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19130" y="3803352"/>
            <a:ext cx="97110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Integrity</a:t>
            </a:r>
            <a:endParaRPr lang="en-US" sz="1850" dirty="0">
              <a:solidFill>
                <a:srgbClr val="378F7A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19130" y="4134700"/>
            <a:ext cx="5340795" cy="631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SQL Server enforces relational integrity for transactions.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>
              <a:solidFill>
                <a:srgbClr val="6F655D"/>
              </a:solidFill>
              <a:latin typeface="Public Sans" pitchFamily="34" charset="0"/>
              <a:ea typeface="Public Sans" pitchFamily="34" charset="-122"/>
              <a:cs typeface="Public San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2365" y="492789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2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687" y="1461432"/>
            <a:ext cx="4248326" cy="4291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0543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880" y="929327"/>
            <a:ext cx="6493966" cy="5423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0"/>
          <p:cNvSpPr/>
          <p:nvPr/>
        </p:nvSpPr>
        <p:spPr>
          <a:xfrm>
            <a:off x="6882450" y="1949342"/>
            <a:ext cx="4772898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Sessions of IT Interns 2026</a:t>
            </a:r>
            <a:endParaRPr lang="en-US" sz="2950" dirty="0">
              <a:solidFill>
                <a:srgbClr val="378F7A"/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6949827" y="3135908"/>
            <a:ext cx="477289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Training highlights: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Focused sessions on Frontend, Backend, Quality Control, Implementation, PACS, Documentation, System &amp; Network, and practical website development using the Fauji Foundation site as a case study..</a:t>
            </a:r>
            <a:endParaRPr lang="en-US" sz="1450" dirty="0"/>
          </a:p>
        </p:txBody>
      </p:sp>
      <p:sp>
        <p:nvSpPr>
          <p:cNvPr id="6" name="TextBox 5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727" y="27232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Thank</a:t>
            </a:r>
            <a:r>
              <a:rPr lang="en-US" sz="37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 </a:t>
            </a:r>
            <a:r>
              <a:rPr lang="en-US" sz="4400" dirty="0">
                <a:solidFill>
                  <a:srgbClr val="378F7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You</a:t>
            </a:r>
            <a:endParaRPr lang="en-US" sz="4400" dirty="0">
              <a:solidFill>
                <a:srgbClr val="378F7A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813974" y="4571107"/>
            <a:ext cx="5533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9" name="TextBox 8"/>
          <p:cNvSpPr txBox="1"/>
          <p:nvPr/>
        </p:nvSpPr>
        <p:spPr>
          <a:xfrm>
            <a:off x="10792312" y="6433196"/>
            <a:ext cx="1325070" cy="36933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598</Words>
  <Application>Microsoft Office PowerPoint</Application>
  <PresentationFormat>Widescreen</PresentationFormat>
  <Paragraphs>79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Public Sans</vt:lpstr>
      <vt:lpstr>Playfair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Nimra Sultan</dc:creator>
  <cp:lastModifiedBy>Nimra Sultan</cp:lastModifiedBy>
  <cp:revision>19</cp:revision>
  <dcterms:created xsi:type="dcterms:W3CDTF">2026-07-31T08:25:48Z</dcterms:created>
  <dcterms:modified xsi:type="dcterms:W3CDTF">2026-08-03T10:36:50Z</dcterms:modified>
</cp:coreProperties>
</file>